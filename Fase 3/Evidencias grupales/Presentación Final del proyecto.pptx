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iq/GMi9QX+TaEGzKWhyc86SeeMp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CF1629A-E595-4BF7-BAEF-31FF503C2B1F}">
  <a:tblStyle styleId="{1CF1629A-E595-4BF7-BAEF-31FF503C2B1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21" Type="http://customschemas.google.com/relationships/presentationmetadata" Target="metadata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afdf0aec88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g3afdf0aec88_0_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iapositiva de título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objetos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cabezado de sección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8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os objetos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9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ació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0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20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20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20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el título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 blanco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ido con título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n con título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y texto vertical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 vertical y texto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Ovr>
    <a:masterClrMapping/>
  </p:clrMapOvr>
  <p:transition spd="slow">
    <p:wipe dir="l"/>
  </p:transition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C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 dir="l"/>
  </p:transition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jp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jp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jp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Relationship Id="rId4" Type="http://schemas.openxmlformats.org/officeDocument/2006/relationships/hyperlink" Target="https://trello.com/b/3jSBPIsy/mundo-masas" TargetMode="External"/><Relationship Id="rId5" Type="http://schemas.openxmlformats.org/officeDocument/2006/relationships/hyperlink" Target="https://github.com/dinasticbar/Proyecto-imperium-final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84" name="Google Shape;84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"/>
          <p:cNvSpPr txBox="1"/>
          <p:nvPr/>
        </p:nvSpPr>
        <p:spPr>
          <a:xfrm>
            <a:off x="1" y="2707792"/>
            <a:ext cx="12192000" cy="113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Imperium</a:t>
            </a:r>
            <a:r>
              <a:rPr b="0" i="0" lang="es-CL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PRESENTACIÓN FINAL CAPSTONE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90" name="Google Shape;90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</a:t>
            </a: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Imperium</a:t>
            </a:r>
            <a:r>
              <a:rPr b="0" i="0" lang="es-CL" sz="1800" u="none" cap="none" strike="noStrike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”</a:t>
            </a:r>
            <a:endParaRPr/>
          </a:p>
        </p:txBody>
      </p:sp>
      <p:sp>
        <p:nvSpPr>
          <p:cNvPr id="92" name="Google Shape;92;p2"/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INTEGRANTES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3" name="Google Shape;93;p2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grpSp>
        <p:nvGrpSpPr>
          <p:cNvPr id="94" name="Google Shape;94;p2"/>
          <p:cNvGrpSpPr/>
          <p:nvPr/>
        </p:nvGrpSpPr>
        <p:grpSpPr>
          <a:xfrm>
            <a:off x="4121026" y="1642516"/>
            <a:ext cx="7633553" cy="4418908"/>
            <a:chOff x="0" y="-68303"/>
            <a:chExt cx="7633553" cy="4418908"/>
          </a:xfrm>
        </p:grpSpPr>
        <p:sp>
          <p:nvSpPr>
            <p:cNvPr id="95" name="Google Shape;95;p2"/>
            <p:cNvSpPr/>
            <p:nvPr/>
          </p:nvSpPr>
          <p:spPr>
            <a:xfrm>
              <a:off x="0" y="0"/>
              <a:ext cx="7633500" cy="1359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6" name="Google Shape;96;p2"/>
            <p:cNvSpPr txBox="1"/>
            <p:nvPr/>
          </p:nvSpPr>
          <p:spPr>
            <a:xfrm>
              <a:off x="1662653" y="-68303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Wladimir Moya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Scrum Master y Product Owner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Desarrollo FrontEnd/Backend y diseño de Base de datos.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7" name="Google Shape;97;p2"/>
            <p:cNvSpPr/>
            <p:nvPr/>
          </p:nvSpPr>
          <p:spPr>
            <a:xfrm>
              <a:off x="135954" y="135954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0" y="1495502"/>
              <a:ext cx="7633500" cy="1359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9" name="Google Shape;99;p2"/>
            <p:cNvSpPr txBox="1"/>
            <p:nvPr/>
          </p:nvSpPr>
          <p:spPr>
            <a:xfrm>
              <a:off x="1662653" y="1384531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lt1"/>
                </a:buClr>
                <a:buSzPts val="2600"/>
                <a:buFont typeface="Calibri"/>
                <a:buNone/>
              </a:pPr>
              <a:r>
                <a:rPr lang="es-CL" sz="26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Francisco Montecinos</a:t>
              </a:r>
              <a:endParaRPr b="0" i="0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91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Development Team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28600" lvl="1" marL="22860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Clr>
                  <a:schemeClr val="lt1"/>
                </a:buClr>
                <a:buSzPts val="2000"/>
                <a:buFont typeface="Calibri"/>
                <a:buChar char="•"/>
              </a:pPr>
              <a:r>
                <a:rPr lang="es-CL" sz="20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rPr>
                <a:t>Desarrollo FrontEnd/BackEnd, QA y Solución de errores visuales.</a:t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2"/>
            <p:cNvSpPr/>
            <p:nvPr/>
          </p:nvSpPr>
          <p:spPr>
            <a:xfrm>
              <a:off x="135954" y="1631457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2"/>
            <p:cNvSpPr/>
            <p:nvPr/>
          </p:nvSpPr>
          <p:spPr>
            <a:xfrm>
              <a:off x="0" y="2991005"/>
              <a:ext cx="7633500" cy="1359600"/>
            </a:xfrm>
            <a:prstGeom prst="roundRect">
              <a:avLst>
                <a:gd fmla="val 10000" name="adj"/>
              </a:avLst>
            </a:prstGeom>
            <a:gradFill>
              <a:gsLst>
                <a:gs pos="0">
                  <a:srgbClr val="6EA5DA"/>
                </a:gs>
                <a:gs pos="50000">
                  <a:srgbClr val="529BDA"/>
                </a:gs>
                <a:gs pos="100000">
                  <a:srgbClr val="4188C8"/>
                </a:gs>
              </a:gsLst>
              <a:lin ang="5400012" scaled="0"/>
            </a:gra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135954" y="3126960"/>
              <a:ext cx="1526700" cy="1087500"/>
            </a:xfrm>
            <a:prstGeom prst="roundRect">
              <a:avLst>
                <a:gd fmla="val 10000" name="adj"/>
              </a:avLst>
            </a:prstGeom>
            <a:solidFill>
              <a:srgbClr val="C3D4EB"/>
            </a:solidFill>
            <a:ln>
              <a:noFill/>
            </a:ln>
            <a:effectLst>
              <a:outerShdw blurRad="57150" rotWithShape="0" algn="ctr" dir="5400000" dist="19050">
                <a:srgbClr val="000000">
                  <a:alpha val="62750"/>
                </a:srgb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"/>
            <p:cNvSpPr txBox="1"/>
            <p:nvPr/>
          </p:nvSpPr>
          <p:spPr>
            <a:xfrm>
              <a:off x="1662653" y="2991005"/>
              <a:ext cx="5970900" cy="135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9050" lIns="99050" spcFirstLastPara="1" rIns="99050" wrap="square" tIns="99050">
              <a:noAutofit/>
            </a:bodyPr>
            <a:lstStyle/>
            <a:p>
              <a:pPr indent="0" lvl="0" marL="0" marR="0" rtl="0" algn="l">
                <a:lnSpc>
                  <a:spcPct val="90000"/>
                </a:lnSpc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t/>
              </a:r>
              <a:endParaRPr b="0" i="0" sz="20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04" name="Google Shape;104;p2" title="IMG_20251211_225315.jpg"/>
          <p:cNvPicPr preferRelativeResize="0"/>
          <p:nvPr/>
        </p:nvPicPr>
        <p:blipFill rotWithShape="1">
          <a:blip r:embed="rId4">
            <a:alphaModFix/>
          </a:blip>
          <a:srcRect b="31372" l="11879" r="12311" t="10206"/>
          <a:stretch/>
        </p:blipFill>
        <p:spPr>
          <a:xfrm>
            <a:off x="4261061" y="3350525"/>
            <a:ext cx="1519000" cy="1068948"/>
          </a:xfrm>
          <a:prstGeom prst="rect">
            <a:avLst/>
          </a:prstGeom>
          <a:noFill/>
          <a:ln>
            <a:noFill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  <p:transition spd="slow">
    <p:wipe dir="l"/>
  </p:transition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09" name="Google Shape;109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3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DESCRIPCIÓN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12" name="Google Shape;112;p3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13" name="Google Shape;113;p3"/>
          <p:cNvSpPr/>
          <p:nvPr/>
        </p:nvSpPr>
        <p:spPr>
          <a:xfrm>
            <a:off x="5456903" y="3736258"/>
            <a:ext cx="1140542" cy="757084"/>
          </a:xfrm>
          <a:prstGeom prst="right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2700">
            <a:solidFill>
              <a:srgbClr val="1C3052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Propuesta de solución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 u="sng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Desarrollar un sistema que permita la gestión de las cámaras permitiendo: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Vincular cámaras.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Visualizar las cámaras.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Las cámaras deben tomar registros de movimientos.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Visualizar los registros realizados por las cámaras.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fmla="val 10901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Problema o dolor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Imperium, un local de abarrotes, sufre de robos y falsas alarmas dentro de su local debido a la mala gestión de las cámaras.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20" name="Google Shape;120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4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 General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3" name="Google Shape;123;p4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24" name="Google Shape;124;p4"/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Objetivos Específicos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614515" y="2040571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Diseñar e implementar un sistema de vigilancia que permita la vinculación y visualización de las cámaras de seguridad, permitiendo evitar los robos y falsas alarmas.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614514" y="4732407"/>
            <a:ext cx="10962967" cy="1575221"/>
          </a:xfrm>
          <a:prstGeom prst="roundRect">
            <a:avLst>
              <a:gd fmla="val 16667" name="adj"/>
            </a:avLst>
          </a:prstGeom>
          <a:solidFill>
            <a:schemeClr val="lt1"/>
          </a:solidFill>
          <a:ln cap="flat" cmpd="sng" w="12700">
            <a:solidFill>
              <a:schemeClr val="accent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42900" lvl="0" marL="45720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la vinculación de cámaras de seguridad.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apartado para visualizar los registros realizados por las cámaras.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Implementar un sistema de Sesiones para mayor seguridad, con registro e inicio de sesión.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45720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Char char="-"/>
            </a:pPr>
            <a:r>
              <a:rPr lang="es-CL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Permitir la visualización de las cámaras vinculadas.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31" name="Google Shape;131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5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33" name="Google Shape;133;p5"/>
          <p:cNvSpPr txBox="1"/>
          <p:nvPr/>
        </p:nvSpPr>
        <p:spPr>
          <a:xfrm>
            <a:off x="0" y="1432655"/>
            <a:ext cx="12192000" cy="646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Alcances y limitaciones del proyecto</a:t>
            </a:r>
            <a:endParaRPr/>
          </a:p>
        </p:txBody>
      </p:sp>
      <p:cxnSp>
        <p:nvCxnSpPr>
          <p:cNvPr id="134" name="Google Shape;134;p5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35" name="Google Shape;135;p5"/>
          <p:cNvSpPr txBox="1"/>
          <p:nvPr/>
        </p:nvSpPr>
        <p:spPr>
          <a:xfrm>
            <a:off x="1072488" y="2377475"/>
            <a:ext cx="5159700" cy="40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Alcances del proyecto: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Sistema de cámaras funcional.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Seguridad básica.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Toma capturas de los movimientos captados por las cámaras.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  <p:sp>
        <p:nvSpPr>
          <p:cNvPr id="136" name="Google Shape;136;p5"/>
          <p:cNvSpPr txBox="1"/>
          <p:nvPr/>
        </p:nvSpPr>
        <p:spPr>
          <a:xfrm>
            <a:off x="6232188" y="2377475"/>
            <a:ext cx="5159700" cy="40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Limitaciones </a:t>
            </a: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del proyecto: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Solo toma capturas de pantalla.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Dificultades con el WIFI.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Toma de QR.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Tiempo.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Seguridad del login.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41" name="Google Shape;14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6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43" name="Google Shape;143;p6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Metodología de trabajo para el desarrollo del proyecto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44" name="Google Shape;144;p6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45" name="Google Shape;145;p6"/>
          <p:cNvSpPr txBox="1"/>
          <p:nvPr/>
        </p:nvSpPr>
        <p:spPr>
          <a:xfrm>
            <a:off x="1054050" y="2343325"/>
            <a:ext cx="10356300" cy="40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just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Utilizando un enfoque iterativo y colaborativo, fuimos capa por capa durante el desarrollo de este proyecto: 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rtl="0" algn="just">
              <a:lnSpc>
                <a:spcPct val="108000"/>
              </a:lnSpc>
              <a:spcBef>
                <a:spcPts val="10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Análisis de requerimientos.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Diseño del sistema.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Desarrollo del prototipo funcional.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Pruebas de calidad.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Validación con el cliente.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</p:txBody>
      </p:sp>
    </p:spTree>
  </p:cSld>
  <p:clrMapOvr>
    <a:masterClrMapping/>
  </p:clrMapOvr>
  <p:transition spd="slow">
    <p:wipe dir="l"/>
  </p:transition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0" name="Google Shape;15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7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52" name="Google Shape;152;p7"/>
          <p:cNvSpPr txBox="1"/>
          <p:nvPr/>
        </p:nvSpPr>
        <p:spPr>
          <a:xfrm>
            <a:off x="1" y="1155656"/>
            <a:ext cx="12191999" cy="8925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 Utilizar cronograma de inicio, indicando el cumplimiento al término del proyecto 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53" name="Google Shape;153;p7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154" name="Google Shape;154;p7"/>
          <p:cNvGraphicFramePr/>
          <p:nvPr/>
        </p:nvGraphicFramePr>
        <p:xfrm>
          <a:off x="1248696" y="259571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{1CF1629A-E595-4BF7-BAEF-31FF503C2B1F}</a:tableStyleId>
              </a:tblPr>
              <a:tblGrid>
                <a:gridCol w="1245550"/>
                <a:gridCol w="494150"/>
                <a:gridCol w="482175"/>
                <a:gridCol w="484950"/>
                <a:gridCol w="484950"/>
                <a:gridCol w="482175"/>
                <a:gridCol w="482175"/>
                <a:gridCol w="482175"/>
                <a:gridCol w="482175"/>
                <a:gridCol w="482175"/>
                <a:gridCol w="482175"/>
                <a:gridCol w="482175"/>
                <a:gridCol w="484025"/>
                <a:gridCol w="484025"/>
                <a:gridCol w="484025"/>
                <a:gridCol w="484025"/>
                <a:gridCol w="484025"/>
                <a:gridCol w="140125"/>
                <a:gridCol w="484025"/>
                <a:gridCol w="484025"/>
                <a:gridCol w="140125"/>
              </a:tblGrid>
              <a:tr h="524475">
                <a:tc row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Actividad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 hMerge="1"/>
                <a:tc hMerge="1"/>
                <a:tc hMerge="1"/>
                <a:tc gridSpan="1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E4D5"/>
                    </a:solidFill>
                  </a:tcPr>
                </a:tc>
                <a:tc hMerge="1"/>
                <a:tc hMerge="1"/>
                <a:tc hMerge="1"/>
              </a:tr>
              <a:tr h="100000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0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Reunión de acuerdo con equipo para explicar proyecto.</a:t>
                      </a:r>
                      <a:endParaRPr b="1" sz="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40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Junta con el cliente para discutir requisitos</a:t>
                      </a: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Elaboración de documentos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1500" u="none" cap="none" strike="noStrike"/>
                        <a:t> </a:t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Inicios de programación</a:t>
                      </a:r>
                      <a:endParaRPr b="1" sz="8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Preparación para Eva1 con documentación y presentación</a:t>
                      </a:r>
                      <a:endParaRPr b="1"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Completar documentación</a:t>
                      </a:r>
                      <a:endParaRPr b="1"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  <p:transition spd="slow">
    <p:wipe dir="l"/>
  </p:transition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59" name="Google Shape;159;g3afdf0aec88_0_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g3afdf0aec88_0_3"/>
          <p:cNvSpPr txBox="1"/>
          <p:nvPr/>
        </p:nvSpPr>
        <p:spPr>
          <a:xfrm>
            <a:off x="136188" y="368928"/>
            <a:ext cx="12192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61" name="Google Shape;161;g3afdf0aec88_0_3"/>
          <p:cNvSpPr txBox="1"/>
          <p:nvPr/>
        </p:nvSpPr>
        <p:spPr>
          <a:xfrm>
            <a:off x="1" y="1155656"/>
            <a:ext cx="121920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Cronograma para el desarrollo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6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 Utilizar cronograma de inicio, indicando el cumplimiento al término del proyecto </a:t>
            </a:r>
            <a:endParaRPr sz="10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62" name="Google Shape;162;g3afdf0aec88_0_3"/>
          <p:cNvCxnSpPr/>
          <p:nvPr/>
        </p:nvCxnSpPr>
        <p:spPr>
          <a:xfrm>
            <a:off x="0" y="758027"/>
            <a:ext cx="4085700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graphicFrame>
        <p:nvGraphicFramePr>
          <p:cNvPr id="163" name="Google Shape;163;g3afdf0aec88_0_3"/>
          <p:cNvGraphicFramePr/>
          <p:nvPr/>
        </p:nvGraphicFramePr>
        <p:xfrm>
          <a:off x="1248696" y="259571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{1CF1629A-E595-4BF7-BAEF-31FF503C2B1F}</a:tableStyleId>
              </a:tblPr>
              <a:tblGrid>
                <a:gridCol w="1245550"/>
                <a:gridCol w="494150"/>
                <a:gridCol w="482175"/>
                <a:gridCol w="484950"/>
                <a:gridCol w="484950"/>
                <a:gridCol w="482175"/>
                <a:gridCol w="482175"/>
                <a:gridCol w="482175"/>
                <a:gridCol w="482175"/>
                <a:gridCol w="482175"/>
                <a:gridCol w="482175"/>
                <a:gridCol w="482175"/>
                <a:gridCol w="484025"/>
                <a:gridCol w="484025"/>
                <a:gridCol w="484025"/>
                <a:gridCol w="567250"/>
                <a:gridCol w="400800"/>
                <a:gridCol w="140125"/>
                <a:gridCol w="484025"/>
                <a:gridCol w="484025"/>
                <a:gridCol w="140125"/>
              </a:tblGrid>
              <a:tr h="524475">
                <a:tc rowSpan="2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Actividad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2EFD9"/>
                    </a:solidFill>
                  </a:tcPr>
                </a:tc>
                <a:tc hMerge="1"/>
                <a:tc hMerge="1"/>
                <a:tc hMerge="1"/>
                <a:tc gridSpan="1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hMerge="1"/>
                <a:tc gridSpan="4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Fase 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E4D5"/>
                    </a:solidFill>
                  </a:tcPr>
                </a:tc>
                <a:tc hMerge="1"/>
                <a:tc hMerge="1"/>
                <a:tc hMerge="1"/>
              </a:tr>
              <a:tr h="100000"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9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10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11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12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13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14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15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16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17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 18</a:t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63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Optimización de cámara</a:t>
                      </a:r>
                      <a:endParaRPr b="1"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035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Sistema de entrenamiento</a:t>
                      </a:r>
                      <a:endParaRPr b="1"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Sistema de seguridad del sistema</a:t>
                      </a:r>
                      <a:endParaRPr b="1"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CL" sz="1100" u="none" cap="none" strike="noStrik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 </a:t>
                      </a:r>
                      <a:endParaRPr/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s-CL" sz="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Preparación para Eva2 con documentación, presentación y Proyecto al 50% aprox.</a:t>
                      </a:r>
                      <a:endParaRPr b="1"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244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Preparación para fase final</a:t>
                      </a:r>
                      <a:endParaRPr b="1" sz="80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4875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-CL" sz="8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Marcha Blanca</a:t>
                      </a:r>
                      <a:endParaRPr b="1" sz="8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68575" marL="68575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2CC"/>
                    </a:solidFill>
                  </a:tcPr>
                </a:tc>
                <a:tc hMerge="1"/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1500" u="none" cap="none" strike="noStrike"/>
                    </a:p>
                  </a:txBody>
                  <a:tcPr marT="0" marB="0" marR="68575" marL="68575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BE4D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1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0" marB="0" marR="0" marL="0" anchor="ctr">
                    <a:lnL cap="flat" cmpd="sng" w="12700">
                      <a:solidFill>
                        <a:srgbClr val="BFBFBF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68" name="Google Shape;16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8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70" name="Google Shape;170;p8"/>
          <p:cNvSpPr txBox="1"/>
          <p:nvPr/>
        </p:nvSpPr>
        <p:spPr>
          <a:xfrm>
            <a:off x="0" y="1432655"/>
            <a:ext cx="12191999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Arquitectura del software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*Presentar esquema</a:t>
            </a:r>
            <a:endParaRPr/>
          </a:p>
        </p:txBody>
      </p:sp>
      <p:cxnSp>
        <p:nvCxnSpPr>
          <p:cNvPr id="171" name="Google Shape;171;p8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72" name="Google Shape;172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8588" y="2497843"/>
            <a:ext cx="6227194" cy="41048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77" name="Google Shape;177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78" name="Google Shape;178;p9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79" name="Google Shape;179;p9"/>
          <p:cNvSpPr txBox="1"/>
          <p:nvPr/>
        </p:nvSpPr>
        <p:spPr>
          <a:xfrm>
            <a:off x="0" y="1140593"/>
            <a:ext cx="12192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Modelo de datos</a:t>
            </a:r>
            <a:endParaRPr/>
          </a:p>
        </p:txBody>
      </p:sp>
      <p:cxnSp>
        <p:nvCxnSpPr>
          <p:cNvPr id="180" name="Google Shape;180;p9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181" name="Google Shape;181;p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05500" y="2169486"/>
            <a:ext cx="8853365" cy="44742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 spd="slow">
    <p:wipe dir="l"/>
  </p:transition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86" name="Google Shape;18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10"/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s-CL" sz="18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PROYECTO “Imperium”</a:t>
            </a:r>
            <a:endParaRPr/>
          </a:p>
        </p:txBody>
      </p:sp>
      <p:sp>
        <p:nvSpPr>
          <p:cNvPr id="188" name="Google Shape;188;p10"/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36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Tecnologías utilizadas</a:t>
            </a:r>
            <a:endParaRPr/>
          </a:p>
        </p:txBody>
      </p:sp>
      <p:cxnSp>
        <p:nvCxnSpPr>
          <p:cNvPr id="189" name="Google Shape;189;p10"/>
          <p:cNvCxnSpPr/>
          <p:nvPr/>
        </p:nvCxnSpPr>
        <p:spPr>
          <a:xfrm>
            <a:off x="0" y="758027"/>
            <a:ext cx="4085617" cy="0"/>
          </a:xfrm>
          <a:prstGeom prst="straightConnector1">
            <a:avLst/>
          </a:prstGeom>
          <a:noFill/>
          <a:ln cap="flat" cmpd="sng" w="15875">
            <a:solidFill>
              <a:srgbClr val="F5F7FC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190" name="Google Shape;190;p10"/>
          <p:cNvSpPr txBox="1"/>
          <p:nvPr/>
        </p:nvSpPr>
        <p:spPr>
          <a:xfrm>
            <a:off x="1186188" y="2308700"/>
            <a:ext cx="5046000" cy="40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Control de versiones: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b="1" lang="es-CL" sz="1800">
                <a:solidFill>
                  <a:schemeClr val="dk1"/>
                </a:solidFill>
                <a:highlight>
                  <a:srgbClr val="FFFFFF"/>
                </a:highlight>
              </a:rPr>
              <a:t>GitHub:</a:t>
            </a: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 Trabajo en equipo, trazabilidad del proyecto, organización del código fuente del proyecto y control de las versiones del mismo.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Gestión del proyecto: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b="1" lang="es-CL" sz="1800">
                <a:solidFill>
                  <a:schemeClr val="dk1"/>
                </a:solidFill>
                <a:highlight>
                  <a:srgbClr val="FFFFFF"/>
                </a:highlight>
              </a:rPr>
              <a:t>Trello:</a:t>
            </a: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 Planificación del proyecto y seguimiento de tareas.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Base de datos: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429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b="1" lang="es-CL" sz="1800">
                <a:solidFill>
                  <a:schemeClr val="dk1"/>
                </a:solidFill>
                <a:highlight>
                  <a:srgbClr val="FFFFFF"/>
                </a:highlight>
              </a:rPr>
              <a:t>SQLite:</a:t>
            </a:r>
            <a:r>
              <a:rPr lang="es-CL" sz="1800">
                <a:solidFill>
                  <a:schemeClr val="dk1"/>
                </a:solidFill>
                <a:highlight>
                  <a:srgbClr val="FFFFFF"/>
                </a:highlight>
              </a:rPr>
              <a:t> Base de datos relacional utilizada para almacenar usuarios, cámaras y registros.</a:t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  <p:sp>
        <p:nvSpPr>
          <p:cNvPr id="191" name="Google Shape;191;p10"/>
          <p:cNvSpPr txBox="1"/>
          <p:nvPr/>
        </p:nvSpPr>
        <p:spPr>
          <a:xfrm>
            <a:off x="6232188" y="2308700"/>
            <a:ext cx="5046000" cy="40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highlight>
                  <a:schemeClr val="lt1"/>
                </a:highlight>
              </a:rPr>
              <a:t>FrontEnd:</a:t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b="1" lang="es-CL" sz="1800">
                <a:solidFill>
                  <a:schemeClr val="dk1"/>
                </a:solidFill>
                <a:highlight>
                  <a:schemeClr val="lt1"/>
                </a:highlight>
              </a:rPr>
              <a:t>HTML y CSS:</a:t>
            </a:r>
            <a:r>
              <a:rPr lang="es-CL" sz="1800">
                <a:solidFill>
                  <a:schemeClr val="dk1"/>
                </a:solidFill>
                <a:highlight>
                  <a:schemeClr val="lt1"/>
                </a:highlight>
              </a:rPr>
              <a:t> Encargados de dar forma y diseño al sistema.</a:t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CL" sz="1800">
                <a:solidFill>
                  <a:schemeClr val="dk1"/>
                </a:solidFill>
                <a:highlight>
                  <a:schemeClr val="lt1"/>
                </a:highlight>
              </a:rPr>
              <a:t>BackEnd:</a:t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b="1" lang="es-CL" sz="1800">
                <a:solidFill>
                  <a:schemeClr val="dk1"/>
                </a:solidFill>
                <a:highlight>
                  <a:schemeClr val="lt1"/>
                </a:highlight>
              </a:rPr>
              <a:t>Django:</a:t>
            </a:r>
            <a:r>
              <a:rPr lang="es-CL" sz="1800">
                <a:solidFill>
                  <a:schemeClr val="dk1"/>
                </a:solidFill>
                <a:highlight>
                  <a:schemeClr val="lt1"/>
                </a:highlight>
              </a:rPr>
              <a:t> Encargado de la lógica del sistema.</a:t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1800">
                <a:solidFill>
                  <a:schemeClr val="dk1"/>
                </a:solidFill>
                <a:highlight>
                  <a:schemeClr val="lt1"/>
                </a:highlight>
              </a:rPr>
              <a:t>Comunicación:</a:t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b="1" lang="es-CL" sz="1800">
                <a:solidFill>
                  <a:schemeClr val="dk1"/>
                </a:solidFill>
                <a:highlight>
                  <a:schemeClr val="lt1"/>
                </a:highlight>
              </a:rPr>
              <a:t>Whatsapp:</a:t>
            </a:r>
            <a:r>
              <a:rPr lang="es-CL" sz="1800">
                <a:solidFill>
                  <a:schemeClr val="dk1"/>
                </a:solidFill>
                <a:highlight>
                  <a:schemeClr val="lt1"/>
                </a:highlight>
              </a:rPr>
              <a:t> Principal fuente de comunicación entre los integrantes.</a:t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-"/>
            </a:pPr>
            <a:r>
              <a:rPr b="1" lang="es-CL" sz="1800">
                <a:solidFill>
                  <a:schemeClr val="dk1"/>
                </a:solidFill>
                <a:highlight>
                  <a:schemeClr val="lt1"/>
                </a:highlight>
              </a:rPr>
              <a:t>Discord/Teams:</a:t>
            </a:r>
            <a:r>
              <a:rPr lang="es-CL" sz="1800">
                <a:solidFill>
                  <a:schemeClr val="dk1"/>
                </a:solidFill>
                <a:highlight>
                  <a:schemeClr val="lt1"/>
                </a:highlight>
              </a:rPr>
              <a:t> Utilizado para las reuniones diarias.</a:t>
            </a:r>
            <a:endParaRPr sz="18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196" name="Google Shape;19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11"/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DEMOSTRACIÓN DEL RESULTADO DEL PROYECTO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>
                <a:solidFill>
                  <a:srgbClr val="757070"/>
                </a:solidFill>
                <a:latin typeface="Calibri"/>
                <a:ea typeface="Calibri"/>
                <a:cs typeface="Calibri"/>
                <a:sym typeface="Calibri"/>
              </a:rPr>
              <a:t>*Exposición del sistema</a:t>
            </a:r>
            <a:endParaRPr sz="2400">
              <a:solidFill>
                <a:srgbClr val="75707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1"/>
          <p:cNvSpPr txBox="1"/>
          <p:nvPr/>
        </p:nvSpPr>
        <p:spPr>
          <a:xfrm>
            <a:off x="3860300" y="4433025"/>
            <a:ext cx="987900" cy="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Trello</a:t>
            </a:r>
            <a:endParaRPr sz="2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1"/>
          <p:cNvSpPr txBox="1"/>
          <p:nvPr/>
        </p:nvSpPr>
        <p:spPr>
          <a:xfrm>
            <a:off x="7035100" y="4433025"/>
            <a:ext cx="1296600" cy="64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8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GitHub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ransition spd="slow">
    <p:wipe dir="l"/>
  </p:transition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04" name="Google Shape;20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2"/>
          <p:cNvSpPr txBox="1"/>
          <p:nvPr/>
        </p:nvSpPr>
        <p:spPr>
          <a:xfrm>
            <a:off x="1054050" y="2343325"/>
            <a:ext cx="10356300" cy="40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En cuanto a resultados obtenidos, aquí tenemos algunos:</a:t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-"/>
            </a:pP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Este proyecto </a:t>
            </a: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resultó</a:t>
            </a: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 en un sistema que gestiona las cámaras y permite la visualización de las mismas, tomando una </a:t>
            </a: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fotografía</a:t>
            </a: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 cuando detecta movimiento.</a:t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-"/>
            </a:pP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Permite visualizar las cámaras en tiempo real.</a:t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-"/>
            </a:pP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Contiene una barrera de seguridad mediante un registro e inicio de sesión.</a:t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-"/>
            </a:pP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Permite visualizar los registros realizados por las cámaras.</a:t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  <a:p>
            <a:pPr indent="-36195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Char char="-"/>
            </a:pPr>
            <a:r>
              <a:rPr lang="es-CL" sz="2100">
                <a:solidFill>
                  <a:schemeClr val="dk1"/>
                </a:solidFill>
                <a:highlight>
                  <a:srgbClr val="FFFFFF"/>
                </a:highlight>
              </a:rPr>
              <a:t>Interfaz intuitiva y fácil de entender.</a:t>
            </a:r>
            <a:endParaRPr sz="2100">
              <a:solidFill>
                <a:schemeClr val="dk1"/>
              </a:solidFill>
              <a:highlight>
                <a:srgbClr val="FFFFFF"/>
              </a:highlight>
            </a:endParaRPr>
          </a:p>
        </p:txBody>
      </p:sp>
      <p:sp>
        <p:nvSpPr>
          <p:cNvPr id="206" name="Google Shape;206;p12"/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Resultados obtenidos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1" name="Google Shape;21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3"/>
          <p:cNvSpPr txBox="1"/>
          <p:nvPr/>
        </p:nvSpPr>
        <p:spPr>
          <a:xfrm>
            <a:off x="1" y="1360773"/>
            <a:ext cx="121920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Obstáculos presentados durante el desarrollo</a:t>
            </a:r>
            <a:endParaRPr/>
          </a:p>
        </p:txBody>
      </p:sp>
      <p:sp>
        <p:nvSpPr>
          <p:cNvPr id="213" name="Google Shape;213;p13"/>
          <p:cNvSpPr txBox="1"/>
          <p:nvPr/>
        </p:nvSpPr>
        <p:spPr>
          <a:xfrm>
            <a:off x="1054050" y="2343325"/>
            <a:ext cx="10356300" cy="4071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2400"/>
              <a:t>Algunos de los obstáculos que se presentaron son:</a:t>
            </a:r>
            <a:endParaRPr sz="2400"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/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SzPts val="2400"/>
              <a:buChar char="-"/>
            </a:pPr>
            <a:r>
              <a:rPr lang="es-CL" sz="2400"/>
              <a:t>Problemas al trabajar con GitHub.</a:t>
            </a:r>
            <a:endParaRPr sz="2400"/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SzPts val="2400"/>
              <a:buChar char="-"/>
            </a:pPr>
            <a:r>
              <a:rPr lang="es-CL" sz="2400"/>
              <a:t>Dificultad para </a:t>
            </a:r>
            <a:r>
              <a:rPr lang="es-CL" sz="2400"/>
              <a:t>organizarse</a:t>
            </a:r>
            <a:r>
              <a:rPr lang="es-CL" sz="2400"/>
              <a:t> con Trello.</a:t>
            </a:r>
            <a:endParaRPr sz="2400"/>
          </a:p>
          <a:p>
            <a:pPr indent="-381000" lvl="0" marL="457200" marR="0" rtl="0" algn="l">
              <a:spcBef>
                <a:spcPts val="0"/>
              </a:spcBef>
              <a:spcAft>
                <a:spcPts val="0"/>
              </a:spcAft>
              <a:buSzPts val="2400"/>
              <a:buChar char="-"/>
            </a:pPr>
            <a:r>
              <a:rPr lang="es-CL" sz="2400"/>
              <a:t>Complicaciones para realizar reuniones.</a:t>
            </a:r>
            <a:endParaRPr sz="2400"/>
          </a:p>
        </p:txBody>
      </p:sp>
    </p:spTree>
  </p:cSld>
  <p:clrMapOvr>
    <a:masterClrMapping/>
  </p:clrMapOvr>
  <p:transition spd="slow">
    <p:wipe dir="l"/>
  </p:transition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scuelaIT Duoc UC - Escuela de Informática y Telecomunicaciones Duoc UC - Duoc  UC | LinkedIn" id="218" name="Google Shape;218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72152" y="207550"/>
            <a:ext cx="3141406" cy="785352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14"/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-CL" sz="44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PREGUNTAS DE LA COMISIÓN</a:t>
            </a:r>
            <a:endParaRPr/>
          </a:p>
        </p:txBody>
      </p:sp>
    </p:spTree>
  </p:cSld>
  <p:clrMapOvr>
    <a:masterClrMapping/>
  </p:clrMapOvr>
  <p:transition spd="slow">
    <p:wipe dir="l"/>
  </p:transition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2023-10-28T21:12:11Z</dcterms:created>
  <dc:creator>Gerardo Galan Cruz</dc:creator>
</cp:coreProperties>
</file>